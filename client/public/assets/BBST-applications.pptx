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2"/>
  </p:notesMasterIdLst>
  <p:sldIdLst>
    <p:sldId id="256" r:id="rId3"/>
    <p:sldId id="257" r:id="rId4"/>
    <p:sldId id="299" r:id="rId5"/>
    <p:sldId id="303" r:id="rId6"/>
    <p:sldId id="305" r:id="rId7"/>
    <p:sldId id="307" r:id="rId8"/>
    <p:sldId id="308" r:id="rId9"/>
    <p:sldId id="310" r:id="rId10"/>
    <p:sldId id="311" r:id="rId11"/>
    <p:sldId id="313" r:id="rId12"/>
    <p:sldId id="323" r:id="rId13"/>
    <p:sldId id="325" r:id="rId14"/>
    <p:sldId id="326" r:id="rId15"/>
    <p:sldId id="327" r:id="rId16"/>
    <p:sldId id="328" r:id="rId17"/>
    <p:sldId id="330" r:id="rId18"/>
    <p:sldId id="331" r:id="rId19"/>
    <p:sldId id="332" r:id="rId20"/>
    <p:sldId id="33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DCC21F-2D32-49F0-B502-29276E3B68A8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9486C2-A025-4DC8-8059-189EC6268DA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6D44-C508-4441-A883-9865C16588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6D44-C508-4441-A883-9865C16588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6D44-C508-4441-A883-9865C16588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6D44-C508-4441-A883-9865C16588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6D44-C508-4441-A883-9865C16588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6D44-C508-4441-A883-9865C16588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6D44-C508-4441-A883-9865C16588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6D44-C508-4441-A883-9865C16588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6D44-C508-4441-A883-9865C16588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6D44-C508-4441-A883-9865C16588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6D44-C508-4441-A883-9865C16588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CB0A229C-7C8D-415D-95E7-01AB2F006EB2}" type="slidenum">
              <a:rPr lang="en-US" kern="1200">
                <a:solidFill>
                  <a:srgbClr val="000000"/>
                </a:solidFill>
                <a:latin typeface="Arial" charset="0"/>
              </a:rPr>
              <a:pPr algn="l" defTabSz="449263" rtl="0" fontAlgn="base">
                <a:spcBef>
                  <a:spcPct val="0"/>
                </a:spcBef>
                <a:spcAft>
                  <a:spcPct val="0"/>
                </a:spcAft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‹#›</a:t>
            </a:fld>
            <a:endParaRPr lang="en-US" kern="120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8ACEF491-B5B3-4F1A-AC07-B2393608B698}" type="slidenum">
              <a:rPr lang="en-US" kern="1200">
                <a:solidFill>
                  <a:srgbClr val="000000"/>
                </a:solidFill>
                <a:latin typeface="Arial" charset="0"/>
              </a:rPr>
              <a:pPr algn="l" defTabSz="449263" rtl="0" fontAlgn="base">
                <a:spcBef>
                  <a:spcPct val="0"/>
                </a:spcBef>
                <a:spcAft>
                  <a:spcPct val="0"/>
                </a:spcAft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‹#›</a:t>
            </a:fld>
            <a:endParaRPr lang="en-US" kern="120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2BD8EDFD-EB1E-4A1A-BF62-BF22D8CD7859}" type="slidenum">
              <a:rPr lang="en-US" kern="1200">
                <a:solidFill>
                  <a:srgbClr val="000000"/>
                </a:solidFill>
                <a:latin typeface="Arial" charset="0"/>
              </a:rPr>
              <a:pPr algn="l" defTabSz="449263" rtl="0" fontAlgn="base">
                <a:spcBef>
                  <a:spcPct val="0"/>
                </a:spcBef>
                <a:spcAft>
                  <a:spcPct val="0"/>
                </a:spcAft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‹#›</a:t>
            </a:fld>
            <a:endParaRPr lang="en-US" kern="120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7013" cy="4903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219200"/>
            <a:ext cx="4037012" cy="4903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894C020F-4431-4ECA-BCBC-3E5999003B8F}" type="slidenum">
              <a:rPr lang="en-US" kern="1200">
                <a:solidFill>
                  <a:srgbClr val="000000"/>
                </a:solidFill>
                <a:latin typeface="Arial" charset="0"/>
              </a:rPr>
              <a:pPr algn="l" defTabSz="449263" rtl="0" fontAlgn="base">
                <a:spcBef>
                  <a:spcPct val="0"/>
                </a:spcBef>
                <a:spcAft>
                  <a:spcPct val="0"/>
                </a:spcAft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‹#›</a:t>
            </a:fld>
            <a:endParaRPr lang="en-US" kern="120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AA338099-5CF6-4234-A752-8FFF14B26F72}" type="slidenum">
              <a:rPr lang="en-US" kern="1200">
                <a:solidFill>
                  <a:srgbClr val="000000"/>
                </a:solidFill>
                <a:latin typeface="Arial" charset="0"/>
              </a:rPr>
              <a:pPr algn="l" defTabSz="449263" rtl="0" fontAlgn="base">
                <a:spcBef>
                  <a:spcPct val="0"/>
                </a:spcBef>
                <a:spcAft>
                  <a:spcPct val="0"/>
                </a:spcAft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‹#›</a:t>
            </a:fld>
            <a:endParaRPr lang="en-US" kern="120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44A0EA-E76B-4E7E-A7C4-23D334D29D1A}" type="slidenum">
              <a:rPr lang="en-US" kern="1200">
                <a:solidFill>
                  <a:srgbClr val="000000"/>
                </a:solidFill>
                <a:latin typeface="Arial" charset="0"/>
              </a:rPr>
              <a:pPr algn="l" defTabSz="449263" rtl="0" fontAlgn="base">
                <a:spcBef>
                  <a:spcPct val="0"/>
                </a:spcBef>
                <a:spcAft>
                  <a:spcPct val="0"/>
                </a:spcAft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‹#›</a:t>
            </a:fld>
            <a:endParaRPr lang="en-US" kern="120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4F341F2-D70C-49C5-9CF3-9A5F2CA373DA}" type="slidenum">
              <a:rPr lang="en-US" kern="1200">
                <a:solidFill>
                  <a:srgbClr val="000000"/>
                </a:solidFill>
                <a:latin typeface="Arial" charset="0"/>
              </a:rPr>
              <a:pPr algn="l" defTabSz="449263" rtl="0" fontAlgn="base">
                <a:spcBef>
                  <a:spcPct val="0"/>
                </a:spcBef>
                <a:spcAft>
                  <a:spcPct val="0"/>
                </a:spcAft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‹#›</a:t>
            </a:fld>
            <a:endParaRPr lang="en-US" kern="120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BE6B65F-EBDF-4DD6-9C10-F69E787327AE}" type="slidenum">
              <a:rPr lang="en-US" kern="1200">
                <a:solidFill>
                  <a:srgbClr val="000000"/>
                </a:solidFill>
                <a:latin typeface="Arial" charset="0"/>
              </a:rPr>
              <a:pPr algn="l" defTabSz="449263" rtl="0" fontAlgn="base">
                <a:spcBef>
                  <a:spcPct val="0"/>
                </a:spcBef>
                <a:spcAft>
                  <a:spcPct val="0"/>
                </a:spcAft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‹#›</a:t>
            </a:fld>
            <a:endParaRPr lang="en-US" kern="120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73F0E392-B577-47F6-A4F7-50FCFF5679D3}" type="slidenum">
              <a:rPr lang="en-US" kern="1200">
                <a:solidFill>
                  <a:srgbClr val="000000"/>
                </a:solidFill>
                <a:latin typeface="Arial" charset="0"/>
              </a:rPr>
              <a:pPr algn="l" defTabSz="449263" rtl="0" fontAlgn="base">
                <a:spcBef>
                  <a:spcPct val="0"/>
                </a:spcBef>
                <a:spcAft>
                  <a:spcPct val="0"/>
                </a:spcAft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‹#›</a:t>
            </a:fld>
            <a:endParaRPr lang="en-US" kern="120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2D64A7A-76A9-4D44-9D2F-371D581B0922}" type="slidenum">
              <a:rPr lang="en-US" kern="1200">
                <a:solidFill>
                  <a:srgbClr val="000000"/>
                </a:solidFill>
                <a:latin typeface="Arial" charset="0"/>
              </a:rPr>
              <a:pPr algn="l" defTabSz="449263" rtl="0" fontAlgn="base">
                <a:spcBef>
                  <a:spcPct val="0"/>
                </a:spcBef>
                <a:spcAft>
                  <a:spcPct val="0"/>
                </a:spcAft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‹#›</a:t>
            </a:fld>
            <a:endParaRPr lang="en-US" kern="120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513" y="-244475"/>
            <a:ext cx="2170112" cy="63674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-244475"/>
            <a:ext cx="6361113" cy="63674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IN" kern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C17D0F04-C3B4-4C22-8DB6-5CE19640AD60}" type="slidenum">
              <a:rPr lang="en-US" kern="1200">
                <a:solidFill>
                  <a:srgbClr val="000000"/>
                </a:solidFill>
                <a:latin typeface="Arial" charset="0"/>
              </a:rPr>
              <a:pPr algn="l" defTabSz="449263" rtl="0" fontAlgn="base">
                <a:spcBef>
                  <a:spcPct val="0"/>
                </a:spcBef>
                <a:spcAft>
                  <a:spcPct val="0"/>
                </a:spcAft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‹#›</a:t>
            </a:fld>
            <a:endParaRPr lang="en-US" kern="120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06D44-C508-4441-A883-9865C16588E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0" y="-244475"/>
            <a:ext cx="8077200" cy="13112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6425" cy="49037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  <a:p>
            <a:pPr lvl="4"/>
            <a:r>
              <a:rPr lang="en-GB" smtClean="0"/>
              <a:t>Eighth Outline Level</a:t>
            </a:r>
          </a:p>
          <a:p>
            <a:pPr lvl="4"/>
            <a:r>
              <a:rPr lang="en-GB" smtClean="0"/>
              <a:t>Ninth Outline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5225"/>
            <a:ext cx="2130425" cy="473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ea typeface="+mn-ea"/>
                <a:cs typeface="+mn-cs"/>
              </a:defRPr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lang="en-IN" kern="1200">
              <a:latin typeface="Arial" charset="0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5225"/>
            <a:ext cx="2892425" cy="473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ea typeface="+mn-ea"/>
                <a:cs typeface="+mn-cs"/>
              </a:defRPr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lang="en-IN" kern="1200">
              <a:latin typeface="Arial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5225"/>
            <a:ext cx="2130425" cy="473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ea typeface="+mn-ea"/>
                <a:cs typeface="+mn-cs"/>
              </a:defRPr>
            </a:lvl1pPr>
          </a:lstStyle>
          <a:p>
            <a:pPr algn="l" defTabSz="449263" rtl="0" fontAlgn="base">
              <a:spcBef>
                <a:spcPct val="0"/>
              </a:spcBef>
              <a:spcAft>
                <a:spcPct val="0"/>
              </a:spcAft>
              <a:buSzPct val="100000"/>
            </a:pPr>
            <a:fld id="{E67A8C46-3A16-49F2-BD97-CF4DBED2EFCC}" type="slidenum">
              <a:rPr lang="en-US" kern="1200">
                <a:latin typeface="Arial" charset="0"/>
              </a:rPr>
              <a:pPr algn="l" defTabSz="449263" rtl="0"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t>‹#›</a:t>
            </a:fld>
            <a:endParaRPr lang="en-US" kern="1200">
              <a:latin typeface="Arial" charset="0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8077200" y="0"/>
            <a:ext cx="1065213" cy="820738"/>
            <a:chOff x="5088" y="0"/>
            <a:chExt cx="671" cy="517"/>
          </a:xfrm>
        </p:grpSpPr>
        <p:sp>
          <p:nvSpPr>
            <p:cNvPr id="1031" name="Rectangle 7"/>
            <p:cNvSpPr>
              <a:spLocks noChangeArrowheads="1"/>
            </p:cNvSpPr>
            <p:nvPr/>
          </p:nvSpPr>
          <p:spPr bwMode="auto">
            <a:xfrm>
              <a:off x="5088" y="0"/>
              <a:ext cx="672" cy="518"/>
            </a:xfrm>
            <a:prstGeom prst="rect">
              <a:avLst/>
            </a:prstGeom>
            <a:solidFill>
              <a:srgbClr val="003399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</a:pPr>
              <a:endParaRPr lang="en-US" kern="1200">
                <a:solidFill>
                  <a:srgbClr val="FFFFFF"/>
                </a:solidFill>
                <a:latin typeface="Arial" charset="0"/>
              </a:endParaRPr>
            </a:p>
          </p:txBody>
        </p:sp>
        <p:pic>
          <p:nvPicPr>
            <p:cNvPr id="1032" name="Picture 8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5155" y="69"/>
              <a:ext cx="554" cy="388"/>
            </a:xfrm>
            <a:prstGeom prst="rect">
              <a:avLst/>
            </a:prstGeom>
            <a:solidFill>
              <a:srgbClr val="003399"/>
            </a:solidFill>
            <a:ln w="9525">
              <a:noFill/>
              <a:round/>
              <a:headEnd/>
              <a:tailEnd/>
            </a:ln>
            <a:effectLst/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000">
          <a:solidFill>
            <a:srgbClr val="99CCFF"/>
          </a:solidFill>
          <a:latin typeface="+mj-lt"/>
          <a:ea typeface="+mj-ea"/>
          <a:cs typeface="+mj-cs"/>
        </a:defRPr>
      </a:lvl1pPr>
      <a:lvl2pPr marL="742950" indent="-28575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000">
          <a:solidFill>
            <a:srgbClr val="99CCFF"/>
          </a:solidFill>
          <a:latin typeface="Verdana" pitchFamily="32" charset="0"/>
          <a:ea typeface="DejaVu Sans" charset="0"/>
          <a:cs typeface="DejaVu Sans" charset="0"/>
        </a:defRPr>
      </a:lvl2pPr>
      <a:lvl3pPr marL="11430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000">
          <a:solidFill>
            <a:srgbClr val="99CCFF"/>
          </a:solidFill>
          <a:latin typeface="Verdana" pitchFamily="32" charset="0"/>
          <a:ea typeface="DejaVu Sans" charset="0"/>
          <a:cs typeface="DejaVu Sans" charset="0"/>
        </a:defRPr>
      </a:lvl3pPr>
      <a:lvl4pPr marL="16002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000">
          <a:solidFill>
            <a:srgbClr val="99CCFF"/>
          </a:solidFill>
          <a:latin typeface="Verdana" pitchFamily="32" charset="0"/>
          <a:ea typeface="DejaVu Sans" charset="0"/>
          <a:cs typeface="DejaVu Sans" charset="0"/>
        </a:defRPr>
      </a:lvl4pPr>
      <a:lvl5pPr marL="20574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000">
          <a:solidFill>
            <a:srgbClr val="99CCFF"/>
          </a:solidFill>
          <a:latin typeface="Verdana" pitchFamily="32" charset="0"/>
          <a:ea typeface="DejaVu Sans" charset="0"/>
          <a:cs typeface="DejaVu Sans" charset="0"/>
        </a:defRPr>
      </a:lvl5pPr>
      <a:lvl6pPr marL="25146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000">
          <a:solidFill>
            <a:srgbClr val="99CCFF"/>
          </a:solidFill>
          <a:latin typeface="Verdana" pitchFamily="32" charset="0"/>
          <a:ea typeface="DejaVu Sans" charset="0"/>
          <a:cs typeface="DejaVu Sans" charset="0"/>
        </a:defRPr>
      </a:lvl6pPr>
      <a:lvl7pPr marL="29718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000">
          <a:solidFill>
            <a:srgbClr val="99CCFF"/>
          </a:solidFill>
          <a:latin typeface="Verdana" pitchFamily="32" charset="0"/>
          <a:ea typeface="DejaVu Sans" charset="0"/>
          <a:cs typeface="DejaVu Sans" charset="0"/>
        </a:defRPr>
      </a:lvl7pPr>
      <a:lvl8pPr marL="34290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000">
          <a:solidFill>
            <a:srgbClr val="99CCFF"/>
          </a:solidFill>
          <a:latin typeface="Verdana" pitchFamily="32" charset="0"/>
          <a:ea typeface="DejaVu Sans" charset="0"/>
          <a:cs typeface="DejaVu Sans" charset="0"/>
        </a:defRPr>
      </a:lvl8pPr>
      <a:lvl9pPr marL="38862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000">
          <a:solidFill>
            <a:srgbClr val="99CCFF"/>
          </a:solidFill>
          <a:latin typeface="Verdana" pitchFamily="32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fontAlgn="base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fontAlgn="base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990000"/>
          </a:solidFill>
          <a:latin typeface="+mn-lt"/>
          <a:ea typeface="+mn-ea"/>
          <a:cs typeface="+mn-cs"/>
        </a:defRPr>
      </a:lvl2pPr>
      <a:lvl3pPr marL="1143000" indent="-228600" algn="l" defTabSz="449263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336600"/>
          </a:solidFill>
          <a:latin typeface="+mn-lt"/>
          <a:ea typeface="+mn-ea"/>
          <a:cs typeface="+mn-cs"/>
        </a:defRPr>
      </a:lvl3pPr>
      <a:lvl4pPr marL="1600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BBST</a:t>
            </a:r>
            <a:r>
              <a:rPr lang="en-US" dirty="0" smtClean="0"/>
              <a:t>  </a:t>
            </a:r>
            <a:r>
              <a:rPr lang="en-US" dirty="0" smtClean="0"/>
              <a:t>Trees</a:t>
            </a:r>
            <a:br>
              <a:rPr lang="en-US" dirty="0" smtClean="0"/>
            </a:br>
            <a:r>
              <a:rPr lang="en-US" sz="1800" dirty="0" smtClean="0"/>
              <a:t>Applications of AVL trees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39725">
              <a:spcBef>
                <a:spcPts val="800"/>
              </a:spcBef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r>
              <a:rPr lang="en-US" dirty="0" err="1">
                <a:solidFill>
                  <a:srgbClr val="000000"/>
                </a:solidFill>
              </a:rPr>
              <a:t>Muralidhara</a:t>
            </a:r>
            <a:r>
              <a:rPr lang="en-US" dirty="0">
                <a:solidFill>
                  <a:srgbClr val="000000"/>
                </a:solidFill>
              </a:rPr>
              <a:t> V N</a:t>
            </a:r>
          </a:p>
          <a:p>
            <a:pPr marL="342900" indent="-339725">
              <a:spcBef>
                <a:spcPts val="800"/>
              </a:spcBef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r>
              <a:rPr lang="en-US" dirty="0">
                <a:solidFill>
                  <a:srgbClr val="000000"/>
                </a:solidFill>
              </a:rPr>
              <a:t>IIIT Bangalore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080375" cy="822325"/>
          </a:xfrm>
          <a:gradFill rotWithShape="0">
            <a:gsLst>
              <a:gs pos="0">
                <a:srgbClr val="CC0000"/>
              </a:gs>
              <a:gs pos="100000">
                <a:srgbClr val="003366"/>
              </a:gs>
            </a:gsLst>
            <a:lin ang="10800000" scaled="1"/>
          </a:gradFill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dirty="0" smtClean="0"/>
              <a:t>Rank (X)</a:t>
            </a:r>
            <a:endParaRPr lang="en-IN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906963"/>
          </a:xfrm>
          <a:ln/>
        </p:spPr>
        <p:txBody>
          <a:bodyPr/>
          <a:lstStyle/>
          <a:p>
            <a:pPr indent="-339725">
              <a:buClrTx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r>
              <a:rPr lang="en-US" sz="2000" dirty="0" smtClean="0"/>
              <a:t>Implement a Data Structure which supports the following operations efficiently.</a:t>
            </a:r>
          </a:p>
          <a:p>
            <a:pPr indent="-339725">
              <a:buClrTx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endParaRPr lang="en-US" sz="2000" dirty="0" smtClean="0"/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r>
              <a:rPr lang="en-US" dirty="0" smtClean="0"/>
              <a:t>Search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r>
              <a:rPr lang="en-US" dirty="0" smtClean="0"/>
              <a:t>Insert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r>
              <a:rPr lang="en-US" dirty="0" smtClean="0"/>
              <a:t>Delete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endParaRPr lang="en-US" dirty="0" smtClean="0"/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r>
              <a:rPr lang="en-US" dirty="0" smtClean="0"/>
              <a:t>Rank(X) – 1+ number of numbers in the collection that are &gt;X.</a:t>
            </a:r>
          </a:p>
          <a:p>
            <a:pPr indent="-339725" algn="just">
              <a:buClrTx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080375" cy="822325"/>
          </a:xfrm>
          <a:gradFill rotWithShape="0">
            <a:gsLst>
              <a:gs pos="0">
                <a:srgbClr val="CC0000"/>
              </a:gs>
              <a:gs pos="100000">
                <a:srgbClr val="003366"/>
              </a:gs>
            </a:gsLst>
            <a:lin ang="10800000" scaled="1"/>
          </a:gradFill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Node count</a:t>
            </a:r>
            <a:endParaRPr lang="en-IN" dirty="0"/>
          </a:p>
        </p:txBody>
      </p:sp>
      <p:sp>
        <p:nvSpPr>
          <p:cNvPr id="4" name="Oval 3"/>
          <p:cNvSpPr/>
          <p:nvPr/>
        </p:nvSpPr>
        <p:spPr bwMode="auto">
          <a:xfrm>
            <a:off x="3352800" y="1524000"/>
            <a:ext cx="838200" cy="6858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52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2514600" y="2971800"/>
            <a:ext cx="762000" cy="7620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26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4648200" y="2895600"/>
            <a:ext cx="838200" cy="7620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73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3124200" y="4495800"/>
            <a:ext cx="838200" cy="8382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32</a:t>
            </a:r>
          </a:p>
        </p:txBody>
      </p:sp>
      <p:cxnSp>
        <p:nvCxnSpPr>
          <p:cNvPr id="11" name="Straight Connector 10"/>
          <p:cNvCxnSpPr>
            <a:stCxn id="4" idx="3"/>
            <a:endCxn id="7" idx="0"/>
          </p:cNvCxnSpPr>
          <p:nvPr/>
        </p:nvCxnSpPr>
        <p:spPr bwMode="auto">
          <a:xfrm rot="5400000">
            <a:off x="2754360" y="2250607"/>
            <a:ext cx="862433" cy="579952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/>
          <p:cNvCxnSpPr>
            <a:stCxn id="4" idx="5"/>
          </p:cNvCxnSpPr>
          <p:nvPr/>
        </p:nvCxnSpPr>
        <p:spPr bwMode="auto">
          <a:xfrm rot="16200000" flipH="1">
            <a:off x="4041308" y="2136307"/>
            <a:ext cx="938633" cy="884752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/>
          <p:nvPr/>
        </p:nvCxnSpPr>
        <p:spPr bwMode="auto">
          <a:xfrm rot="16200000" flipH="1">
            <a:off x="2819400" y="3962400"/>
            <a:ext cx="838200" cy="38100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Oval 15"/>
          <p:cNvSpPr/>
          <p:nvPr/>
        </p:nvSpPr>
        <p:spPr bwMode="auto">
          <a:xfrm>
            <a:off x="4495800" y="4572000"/>
            <a:ext cx="838200" cy="8382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64</a:t>
            </a:r>
          </a:p>
        </p:txBody>
      </p:sp>
      <p:sp>
        <p:nvSpPr>
          <p:cNvPr id="17" name="Oval 16"/>
          <p:cNvSpPr/>
          <p:nvPr/>
        </p:nvSpPr>
        <p:spPr bwMode="auto">
          <a:xfrm>
            <a:off x="5791200" y="4648200"/>
            <a:ext cx="838200" cy="7620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93</a:t>
            </a:r>
          </a:p>
        </p:txBody>
      </p:sp>
      <p:cxnSp>
        <p:nvCxnSpPr>
          <p:cNvPr id="19" name="Straight Connector 18"/>
          <p:cNvCxnSpPr>
            <a:stCxn id="8" idx="4"/>
          </p:cNvCxnSpPr>
          <p:nvPr/>
        </p:nvCxnSpPr>
        <p:spPr bwMode="auto">
          <a:xfrm rot="5400000">
            <a:off x="4476750" y="3981450"/>
            <a:ext cx="914400" cy="26670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stCxn id="8" idx="5"/>
          </p:cNvCxnSpPr>
          <p:nvPr/>
        </p:nvCxnSpPr>
        <p:spPr bwMode="auto">
          <a:xfrm rot="16200000" flipH="1">
            <a:off x="5140628" y="3769028"/>
            <a:ext cx="1102192" cy="656152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Oval 21"/>
          <p:cNvSpPr/>
          <p:nvPr/>
        </p:nvSpPr>
        <p:spPr bwMode="auto">
          <a:xfrm>
            <a:off x="1981200" y="5867400"/>
            <a:ext cx="838200" cy="7620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29</a:t>
            </a:r>
          </a:p>
        </p:txBody>
      </p:sp>
      <p:sp>
        <p:nvSpPr>
          <p:cNvPr id="23" name="Oval 22"/>
          <p:cNvSpPr/>
          <p:nvPr/>
        </p:nvSpPr>
        <p:spPr bwMode="auto">
          <a:xfrm>
            <a:off x="3352800" y="5791200"/>
            <a:ext cx="838200" cy="8382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39</a:t>
            </a:r>
          </a:p>
        </p:txBody>
      </p:sp>
      <p:sp>
        <p:nvSpPr>
          <p:cNvPr id="24" name="Oval 23"/>
          <p:cNvSpPr/>
          <p:nvPr/>
        </p:nvSpPr>
        <p:spPr bwMode="auto">
          <a:xfrm>
            <a:off x="5486400" y="5791200"/>
            <a:ext cx="914400" cy="8382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85</a:t>
            </a:r>
          </a:p>
        </p:txBody>
      </p:sp>
      <p:cxnSp>
        <p:nvCxnSpPr>
          <p:cNvPr id="26" name="Straight Connector 25"/>
          <p:cNvCxnSpPr>
            <a:stCxn id="9" idx="3"/>
            <a:endCxn id="22" idx="7"/>
          </p:cNvCxnSpPr>
          <p:nvPr/>
        </p:nvCxnSpPr>
        <p:spPr bwMode="auto">
          <a:xfrm rot="5400000">
            <a:off x="2587929" y="5319968"/>
            <a:ext cx="767743" cy="550304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/>
          <p:cNvCxnSpPr>
            <a:stCxn id="9" idx="4"/>
          </p:cNvCxnSpPr>
          <p:nvPr/>
        </p:nvCxnSpPr>
        <p:spPr bwMode="auto">
          <a:xfrm rot="16200000" flipH="1">
            <a:off x="3371850" y="5505450"/>
            <a:ext cx="457200" cy="11430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/>
          <p:cNvCxnSpPr>
            <a:stCxn id="17" idx="4"/>
            <a:endCxn id="24" idx="0"/>
          </p:cNvCxnSpPr>
          <p:nvPr/>
        </p:nvCxnSpPr>
        <p:spPr bwMode="auto">
          <a:xfrm rot="5400000">
            <a:off x="5886450" y="5467350"/>
            <a:ext cx="381000" cy="26670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Text Placeholder 24"/>
          <p:cNvSpPr>
            <a:spLocks noGrp="1"/>
          </p:cNvSpPr>
          <p:nvPr>
            <p:ph type="body" idx="4294967295"/>
          </p:nvPr>
        </p:nvSpPr>
        <p:spPr bwMode="auto">
          <a:xfrm>
            <a:off x="990600" y="3886200"/>
            <a:ext cx="762000" cy="762001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15</a:t>
            </a:r>
          </a:p>
        </p:txBody>
      </p:sp>
      <p:sp>
        <p:nvSpPr>
          <p:cNvPr id="27" name="Text Placeholder 24"/>
          <p:cNvSpPr txBox="1">
            <a:spLocks/>
          </p:cNvSpPr>
          <p:nvPr/>
        </p:nvSpPr>
        <p:spPr bwMode="auto">
          <a:xfrm>
            <a:off x="1828800" y="4648200"/>
            <a:ext cx="838200" cy="761999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19</a:t>
            </a:r>
          </a:p>
        </p:txBody>
      </p:sp>
      <p:cxnSp>
        <p:nvCxnSpPr>
          <p:cNvPr id="31" name="Straight Connector 30"/>
          <p:cNvCxnSpPr>
            <a:stCxn id="7" idx="2"/>
            <a:endCxn id="25" idx="7"/>
          </p:cNvCxnSpPr>
          <p:nvPr/>
        </p:nvCxnSpPr>
        <p:spPr bwMode="auto">
          <a:xfrm rot="10800000" flipV="1">
            <a:off x="1641008" y="3352800"/>
            <a:ext cx="873592" cy="644992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Straight Connector 33"/>
          <p:cNvCxnSpPr>
            <a:stCxn id="25" idx="5"/>
          </p:cNvCxnSpPr>
          <p:nvPr/>
        </p:nvCxnSpPr>
        <p:spPr bwMode="auto">
          <a:xfrm rot="16200000" flipH="1">
            <a:off x="1564809" y="4612808"/>
            <a:ext cx="340191" cy="187792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6553200" y="62484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6705600" y="48006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5105400" y="53340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638800" y="28194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4267200" y="175260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11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2286000" y="30480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838200" y="44958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1752600" y="53340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733800" y="44196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1905000" y="6488668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3352800" y="65532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080375" cy="822325"/>
          </a:xfrm>
          <a:gradFill rotWithShape="0">
            <a:gsLst>
              <a:gs pos="0">
                <a:srgbClr val="CC0000"/>
              </a:gs>
              <a:gs pos="100000">
                <a:srgbClr val="003366"/>
              </a:gs>
            </a:gsLst>
            <a:lin ang="10800000" scaled="1"/>
          </a:gradFill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dirty="0" smtClean="0"/>
              <a:t>Find Rank (rank)</a:t>
            </a:r>
            <a:endParaRPr lang="en-IN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906963"/>
          </a:xfrm>
          <a:ln/>
        </p:spPr>
        <p:txBody>
          <a:bodyPr/>
          <a:lstStyle/>
          <a:p>
            <a:pPr indent="-339725" algn="just">
              <a:buClrTx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r>
              <a:rPr lang="en-US" dirty="0" smtClean="0"/>
              <a:t>Given rank , find an number X, such Rank(X)= r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080375" cy="822325"/>
          </a:xfrm>
          <a:gradFill rotWithShape="0">
            <a:gsLst>
              <a:gs pos="0">
                <a:srgbClr val="CC0000"/>
              </a:gs>
              <a:gs pos="100000">
                <a:srgbClr val="003366"/>
              </a:gs>
            </a:gsLst>
            <a:lin ang="10800000" scaled="1"/>
          </a:gradFill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Node count</a:t>
            </a:r>
            <a:endParaRPr lang="en-IN" dirty="0"/>
          </a:p>
        </p:txBody>
      </p:sp>
      <p:sp>
        <p:nvSpPr>
          <p:cNvPr id="4" name="Oval 3"/>
          <p:cNvSpPr/>
          <p:nvPr/>
        </p:nvSpPr>
        <p:spPr bwMode="auto">
          <a:xfrm>
            <a:off x="3352800" y="1524000"/>
            <a:ext cx="838200" cy="6858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52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2514600" y="2971800"/>
            <a:ext cx="762000" cy="7620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26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4648200" y="2895600"/>
            <a:ext cx="838200" cy="7620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73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3124200" y="4495800"/>
            <a:ext cx="838200" cy="8382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32</a:t>
            </a:r>
          </a:p>
        </p:txBody>
      </p:sp>
      <p:cxnSp>
        <p:nvCxnSpPr>
          <p:cNvPr id="11" name="Straight Connector 10"/>
          <p:cNvCxnSpPr>
            <a:stCxn id="4" idx="3"/>
            <a:endCxn id="7" idx="0"/>
          </p:cNvCxnSpPr>
          <p:nvPr/>
        </p:nvCxnSpPr>
        <p:spPr bwMode="auto">
          <a:xfrm rot="5400000">
            <a:off x="2754360" y="2250607"/>
            <a:ext cx="862433" cy="579952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/>
          <p:cNvCxnSpPr>
            <a:stCxn id="4" idx="5"/>
          </p:cNvCxnSpPr>
          <p:nvPr/>
        </p:nvCxnSpPr>
        <p:spPr bwMode="auto">
          <a:xfrm rot="16200000" flipH="1">
            <a:off x="4041308" y="2136307"/>
            <a:ext cx="938633" cy="884752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/>
          <p:nvPr/>
        </p:nvCxnSpPr>
        <p:spPr bwMode="auto">
          <a:xfrm rot="16200000" flipH="1">
            <a:off x="2819400" y="3962400"/>
            <a:ext cx="838200" cy="38100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Oval 15"/>
          <p:cNvSpPr/>
          <p:nvPr/>
        </p:nvSpPr>
        <p:spPr bwMode="auto">
          <a:xfrm>
            <a:off x="4495800" y="4572000"/>
            <a:ext cx="838200" cy="8382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64</a:t>
            </a:r>
          </a:p>
        </p:txBody>
      </p:sp>
      <p:sp>
        <p:nvSpPr>
          <p:cNvPr id="17" name="Oval 16"/>
          <p:cNvSpPr/>
          <p:nvPr/>
        </p:nvSpPr>
        <p:spPr bwMode="auto">
          <a:xfrm>
            <a:off x="5791200" y="4648200"/>
            <a:ext cx="838200" cy="7620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93</a:t>
            </a:r>
          </a:p>
        </p:txBody>
      </p:sp>
      <p:cxnSp>
        <p:nvCxnSpPr>
          <p:cNvPr id="19" name="Straight Connector 18"/>
          <p:cNvCxnSpPr>
            <a:stCxn id="8" idx="4"/>
          </p:cNvCxnSpPr>
          <p:nvPr/>
        </p:nvCxnSpPr>
        <p:spPr bwMode="auto">
          <a:xfrm rot="5400000">
            <a:off x="4476750" y="3981450"/>
            <a:ext cx="914400" cy="26670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stCxn id="8" idx="5"/>
          </p:cNvCxnSpPr>
          <p:nvPr/>
        </p:nvCxnSpPr>
        <p:spPr bwMode="auto">
          <a:xfrm rot="16200000" flipH="1">
            <a:off x="5140628" y="3769028"/>
            <a:ext cx="1102192" cy="656152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Oval 21"/>
          <p:cNvSpPr/>
          <p:nvPr/>
        </p:nvSpPr>
        <p:spPr bwMode="auto">
          <a:xfrm>
            <a:off x="1981200" y="5867400"/>
            <a:ext cx="838200" cy="7620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29</a:t>
            </a:r>
          </a:p>
        </p:txBody>
      </p:sp>
      <p:sp>
        <p:nvSpPr>
          <p:cNvPr id="23" name="Oval 22"/>
          <p:cNvSpPr/>
          <p:nvPr/>
        </p:nvSpPr>
        <p:spPr bwMode="auto">
          <a:xfrm>
            <a:off x="3352800" y="5791200"/>
            <a:ext cx="838200" cy="8382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39</a:t>
            </a:r>
          </a:p>
        </p:txBody>
      </p:sp>
      <p:sp>
        <p:nvSpPr>
          <p:cNvPr id="24" name="Oval 23"/>
          <p:cNvSpPr/>
          <p:nvPr/>
        </p:nvSpPr>
        <p:spPr bwMode="auto">
          <a:xfrm>
            <a:off x="5486400" y="5791200"/>
            <a:ext cx="914400" cy="8382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85</a:t>
            </a:r>
          </a:p>
        </p:txBody>
      </p:sp>
      <p:cxnSp>
        <p:nvCxnSpPr>
          <p:cNvPr id="26" name="Straight Connector 25"/>
          <p:cNvCxnSpPr>
            <a:stCxn id="9" idx="3"/>
            <a:endCxn id="22" idx="7"/>
          </p:cNvCxnSpPr>
          <p:nvPr/>
        </p:nvCxnSpPr>
        <p:spPr bwMode="auto">
          <a:xfrm rot="5400000">
            <a:off x="2587929" y="5319968"/>
            <a:ext cx="767743" cy="550304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/>
          <p:cNvCxnSpPr>
            <a:stCxn id="9" idx="4"/>
          </p:cNvCxnSpPr>
          <p:nvPr/>
        </p:nvCxnSpPr>
        <p:spPr bwMode="auto">
          <a:xfrm rot="16200000" flipH="1">
            <a:off x="3371850" y="5505450"/>
            <a:ext cx="457200" cy="11430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/>
          <p:cNvCxnSpPr>
            <a:stCxn id="17" idx="4"/>
            <a:endCxn id="24" idx="0"/>
          </p:cNvCxnSpPr>
          <p:nvPr/>
        </p:nvCxnSpPr>
        <p:spPr bwMode="auto">
          <a:xfrm rot="5400000">
            <a:off x="5886450" y="5467350"/>
            <a:ext cx="381000" cy="26670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Text Placeholder 24"/>
          <p:cNvSpPr>
            <a:spLocks noGrp="1"/>
          </p:cNvSpPr>
          <p:nvPr>
            <p:ph type="body" idx="4294967295"/>
          </p:nvPr>
        </p:nvSpPr>
        <p:spPr bwMode="auto">
          <a:xfrm>
            <a:off x="990600" y="3886200"/>
            <a:ext cx="762000" cy="762001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15</a:t>
            </a:r>
          </a:p>
        </p:txBody>
      </p:sp>
      <p:sp>
        <p:nvSpPr>
          <p:cNvPr id="27" name="Text Placeholder 24"/>
          <p:cNvSpPr txBox="1">
            <a:spLocks/>
          </p:cNvSpPr>
          <p:nvPr/>
        </p:nvSpPr>
        <p:spPr bwMode="auto">
          <a:xfrm>
            <a:off x="1828800" y="4648200"/>
            <a:ext cx="838200" cy="761999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19</a:t>
            </a:r>
          </a:p>
        </p:txBody>
      </p:sp>
      <p:cxnSp>
        <p:nvCxnSpPr>
          <p:cNvPr id="31" name="Straight Connector 30"/>
          <p:cNvCxnSpPr>
            <a:stCxn id="7" idx="2"/>
            <a:endCxn id="25" idx="7"/>
          </p:cNvCxnSpPr>
          <p:nvPr/>
        </p:nvCxnSpPr>
        <p:spPr bwMode="auto">
          <a:xfrm rot="10800000" flipV="1">
            <a:off x="1641008" y="3352800"/>
            <a:ext cx="873592" cy="644992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Straight Connector 33"/>
          <p:cNvCxnSpPr>
            <a:stCxn id="25" idx="5"/>
          </p:cNvCxnSpPr>
          <p:nvPr/>
        </p:nvCxnSpPr>
        <p:spPr bwMode="auto">
          <a:xfrm rot="16200000" flipH="1">
            <a:off x="1564809" y="4612808"/>
            <a:ext cx="340191" cy="187792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6553200" y="62484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6705600" y="48006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5105400" y="53340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638800" y="28194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4267200" y="175260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11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2286000" y="30480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838200" y="44958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1752600" y="53340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733800" y="44196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1905000" y="6488668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3352800" y="65532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080375" cy="822325"/>
          </a:xfrm>
          <a:gradFill rotWithShape="0">
            <a:gsLst>
              <a:gs pos="0">
                <a:srgbClr val="CC0000"/>
              </a:gs>
              <a:gs pos="100000">
                <a:srgbClr val="003366"/>
              </a:gs>
            </a:gsLst>
            <a:lin ang="10800000" scaled="1"/>
          </a:gradFill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dirty="0" smtClean="0"/>
              <a:t>Other operations</a:t>
            </a:r>
            <a:endParaRPr lang="en-IN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906963"/>
          </a:xfrm>
          <a:ln/>
        </p:spPr>
        <p:txBody>
          <a:bodyPr/>
          <a:lstStyle/>
          <a:p>
            <a:pPr indent="-339725" algn="just">
              <a:buClrTx/>
              <a:buFont typeface="Arial" pitchFamily="34" charset="0"/>
              <a:buChar char="•"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r>
              <a:rPr lang="en-US" dirty="0" err="1" smtClean="0"/>
              <a:t>PrefixSum</a:t>
            </a:r>
            <a:r>
              <a:rPr lang="en-US" dirty="0" smtClean="0"/>
              <a:t>(X) = find the sum of all the numbers smaller than X.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080375" cy="822325"/>
          </a:xfrm>
          <a:gradFill rotWithShape="0">
            <a:gsLst>
              <a:gs pos="0">
                <a:srgbClr val="CC0000"/>
              </a:gs>
              <a:gs pos="100000">
                <a:srgbClr val="003366"/>
              </a:gs>
            </a:gsLst>
            <a:lin ang="10800000" scaled="1"/>
          </a:gradFill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dirty="0" smtClean="0"/>
              <a:t>Other operations</a:t>
            </a:r>
            <a:endParaRPr lang="en-IN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906963"/>
          </a:xfrm>
          <a:ln/>
        </p:spPr>
        <p:txBody>
          <a:bodyPr/>
          <a:lstStyle/>
          <a:p>
            <a:pPr indent="-339725" algn="just">
              <a:buClrTx/>
              <a:buFont typeface="Arial" pitchFamily="34" charset="0"/>
              <a:buChar char="•"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r>
              <a:rPr lang="en-US" dirty="0" err="1" smtClean="0"/>
              <a:t>PrefixSum</a:t>
            </a:r>
            <a:r>
              <a:rPr lang="en-US" dirty="0" smtClean="0"/>
              <a:t>(X) = find the sum of all the numbers smaller than X.</a:t>
            </a:r>
          </a:p>
          <a:p>
            <a:pPr indent="-339725" algn="just">
              <a:buClrTx/>
              <a:buFont typeface="Arial" pitchFamily="34" charset="0"/>
              <a:buChar char="•"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r>
              <a:rPr lang="en-US" dirty="0" err="1" smtClean="0"/>
              <a:t>RangeSum</a:t>
            </a:r>
            <a:r>
              <a:rPr lang="en-US" dirty="0" smtClean="0"/>
              <a:t>(X,Y) = sum of numbers between X and Y.</a:t>
            </a:r>
          </a:p>
          <a:p>
            <a:pPr indent="-339725" algn="just">
              <a:buClrTx/>
              <a:buFont typeface="Arial" pitchFamily="34" charset="0"/>
              <a:buChar char="•"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r>
              <a:rPr lang="en-US" dirty="0" smtClean="0"/>
              <a:t>Average(X,Y) = Average of numbers between X and Y.</a:t>
            </a:r>
          </a:p>
          <a:p>
            <a:pPr indent="-339725" algn="just">
              <a:buClrTx/>
              <a:buFont typeface="Arial" pitchFamily="34" charset="0"/>
              <a:buChar char="•"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r>
              <a:rPr lang="en-US" dirty="0" err="1" smtClean="0"/>
              <a:t>Morethanaverage</a:t>
            </a:r>
            <a:r>
              <a:rPr lang="en-US" dirty="0" smtClean="0"/>
              <a:t>(X,Y) = the no of numbers between X and Y bigger than Average(X,Y). 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080375" cy="822325"/>
          </a:xfrm>
          <a:gradFill rotWithShape="0">
            <a:gsLst>
              <a:gs pos="0">
                <a:srgbClr val="CC0000"/>
              </a:gs>
              <a:gs pos="100000">
                <a:srgbClr val="003366"/>
              </a:gs>
            </a:gsLst>
            <a:lin ang="10800000" scaled="1"/>
          </a:gradFill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dirty="0" smtClean="0"/>
              <a:t>Range Query</a:t>
            </a:r>
            <a:endParaRPr lang="en-IN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906963"/>
          </a:xfrm>
          <a:ln/>
        </p:spPr>
        <p:txBody>
          <a:bodyPr/>
          <a:lstStyle/>
          <a:p>
            <a:pPr indent="-339725" algn="just">
              <a:buClrTx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endParaRPr lang="en-US" dirty="0" smtClean="0"/>
          </a:p>
          <a:p>
            <a:pPr indent="-339725" algn="just">
              <a:buClrTx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endParaRPr lang="en-US" dirty="0" smtClean="0"/>
          </a:p>
          <a:p>
            <a:pPr indent="-339725" algn="just">
              <a:buClrTx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r>
              <a:rPr lang="en-US" dirty="0" err="1" smtClean="0"/>
              <a:t>RangeMaxQuery</a:t>
            </a:r>
            <a:r>
              <a:rPr lang="en-US" dirty="0" smtClean="0"/>
              <a:t>(A,0,4)=1;</a:t>
            </a:r>
          </a:p>
          <a:p>
            <a:pPr indent="-339725" algn="just">
              <a:buClrTx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r>
              <a:rPr lang="en-US" dirty="0" err="1" smtClean="0"/>
              <a:t>RangeMinQuery</a:t>
            </a:r>
            <a:r>
              <a:rPr lang="en-US" dirty="0" smtClean="0"/>
              <a:t>(A,0,3)=2;</a:t>
            </a:r>
          </a:p>
          <a:p>
            <a:pPr indent="-339725" algn="just">
              <a:buClrTx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endParaRPr lang="en-US" dirty="0" smtClean="0"/>
          </a:p>
          <a:p>
            <a:pPr indent="-339725" algn="just">
              <a:buClrTx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r>
              <a:rPr lang="en-US" dirty="0" smtClean="0"/>
              <a:t>Update(</a:t>
            </a:r>
            <a:r>
              <a:rPr lang="en-US" dirty="0" err="1" smtClean="0"/>
              <a:t>A,i</a:t>
            </a:r>
            <a:r>
              <a:rPr lang="en-US" dirty="0" smtClean="0"/>
              <a:t> ,X) = Set A[</a:t>
            </a:r>
            <a:r>
              <a:rPr lang="en-US" dirty="0" err="1" smtClean="0"/>
              <a:t>i</a:t>
            </a:r>
            <a:r>
              <a:rPr lang="en-US" dirty="0" smtClean="0"/>
              <a:t>]=X;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1371600"/>
          <a:ext cx="6096000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835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3835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080375" cy="822325"/>
          </a:xfrm>
          <a:gradFill rotWithShape="0">
            <a:gsLst>
              <a:gs pos="0">
                <a:srgbClr val="CC0000"/>
              </a:gs>
              <a:gs pos="100000">
                <a:srgbClr val="003366"/>
              </a:gs>
            </a:gsLst>
            <a:lin ang="10800000" scaled="1"/>
          </a:gradFill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dirty="0" smtClean="0"/>
              <a:t>Range Query</a:t>
            </a:r>
            <a:endParaRPr lang="en-IN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906963"/>
          </a:xfrm>
          <a:ln/>
        </p:spPr>
        <p:txBody>
          <a:bodyPr/>
          <a:lstStyle/>
          <a:p>
            <a:pPr indent="-339725" algn="just">
              <a:buClrTx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endParaRPr lang="en-US" dirty="0" smtClean="0"/>
          </a:p>
          <a:p>
            <a:pPr indent="-339725" algn="just">
              <a:buClrTx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endParaRPr 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1371600"/>
          <a:ext cx="6096000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835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3835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 bwMode="auto">
          <a:xfrm>
            <a:off x="3733800" y="2590800"/>
            <a:ext cx="685800" cy="7620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lang="en-US" sz="2400" dirty="0" smtClean="0">
                <a:solidFill>
                  <a:schemeClr val="bg1"/>
                </a:solidFill>
                <a:latin typeface="Arial" charset="0"/>
              </a:rPr>
              <a:t>2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4876800" y="3505200"/>
            <a:ext cx="685800" cy="7620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4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4495800" y="4724400"/>
            <a:ext cx="685800" cy="7620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3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5715000" y="4724400"/>
            <a:ext cx="685800" cy="7620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5</a:t>
            </a:r>
          </a:p>
        </p:txBody>
      </p:sp>
      <p:sp>
        <p:nvSpPr>
          <p:cNvPr id="10" name="Oval 9"/>
          <p:cNvSpPr/>
          <p:nvPr/>
        </p:nvSpPr>
        <p:spPr bwMode="auto">
          <a:xfrm>
            <a:off x="3429000" y="4724400"/>
            <a:ext cx="685800" cy="7620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1</a:t>
            </a:r>
          </a:p>
        </p:txBody>
      </p:sp>
      <p:sp>
        <p:nvSpPr>
          <p:cNvPr id="11" name="Oval 10"/>
          <p:cNvSpPr/>
          <p:nvPr/>
        </p:nvSpPr>
        <p:spPr bwMode="auto">
          <a:xfrm>
            <a:off x="2743200" y="3657600"/>
            <a:ext cx="685800" cy="7620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0</a:t>
            </a:r>
          </a:p>
        </p:txBody>
      </p:sp>
      <p:cxnSp>
        <p:nvCxnSpPr>
          <p:cNvPr id="14" name="Straight Connector 13"/>
          <p:cNvCxnSpPr>
            <a:stCxn id="5" idx="3"/>
            <a:endCxn id="11" idx="7"/>
          </p:cNvCxnSpPr>
          <p:nvPr/>
        </p:nvCxnSpPr>
        <p:spPr bwMode="auto">
          <a:xfrm rot="5400000">
            <a:off x="3317408" y="3252367"/>
            <a:ext cx="527984" cy="505666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 rot="16200000" flipH="1">
            <a:off x="3162300" y="4381500"/>
            <a:ext cx="381000" cy="30480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>
            <a:stCxn id="5" idx="5"/>
            <a:endCxn id="6" idx="1"/>
          </p:cNvCxnSpPr>
          <p:nvPr/>
        </p:nvCxnSpPr>
        <p:spPr bwMode="auto">
          <a:xfrm rot="16200000" flipH="1">
            <a:off x="4460408" y="3099967"/>
            <a:ext cx="375584" cy="658066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>
            <a:stCxn id="6" idx="3"/>
            <a:endCxn id="8" idx="0"/>
          </p:cNvCxnSpPr>
          <p:nvPr/>
        </p:nvCxnSpPr>
        <p:spPr bwMode="auto">
          <a:xfrm rot="5400000">
            <a:off x="4623571" y="4370738"/>
            <a:ext cx="568792" cy="138533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stCxn id="6" idx="5"/>
            <a:endCxn id="9" idx="1"/>
          </p:cNvCxnSpPr>
          <p:nvPr/>
        </p:nvCxnSpPr>
        <p:spPr bwMode="auto">
          <a:xfrm rot="16200000" flipH="1">
            <a:off x="5298608" y="4319167"/>
            <a:ext cx="680384" cy="353266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477000" y="50292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715000" y="35814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181600" y="50292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114800" y="53340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505200" y="38862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4495800" y="27432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57200" y="24384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min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3276600" y="28194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95800" y="37338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286000" y="38100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971800" y="50292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267200" y="44958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43600" y="55626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7200" y="28194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max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038600" y="342900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26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14600" y="434340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12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105400" y="426720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12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352800" y="54102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8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800600" y="55626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5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324600" y="44958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6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33400" y="3200400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sum</a:t>
            </a:r>
            <a:endParaRPr lang="en-US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080375" cy="822325"/>
          </a:xfrm>
          <a:gradFill rotWithShape="0">
            <a:gsLst>
              <a:gs pos="0">
                <a:srgbClr val="CC0000"/>
              </a:gs>
              <a:gs pos="100000">
                <a:srgbClr val="003366"/>
              </a:gs>
            </a:gsLst>
            <a:lin ang="10800000" scaled="1"/>
          </a:gradFill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dirty="0" smtClean="0"/>
              <a:t>BBST Structure  </a:t>
            </a:r>
            <a:endParaRPr lang="en-IN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906963"/>
          </a:xfrm>
          <a:ln/>
        </p:spPr>
        <p:txBody>
          <a:bodyPr/>
          <a:lstStyle/>
          <a:p>
            <a:pPr indent="-339725">
              <a:buClrTx/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Index are the keys in the BST.</a:t>
            </a:r>
          </a:p>
          <a:p>
            <a:pPr indent="-339725">
              <a:buClrTx/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dirty="0" smtClean="0"/>
          </a:p>
          <a:p>
            <a:pPr indent="-339725">
              <a:buClrTx/>
              <a:buFont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The BBST can be built in linear time .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080375" cy="822325"/>
          </a:xfrm>
          <a:gradFill rotWithShape="0">
            <a:gsLst>
              <a:gs pos="0">
                <a:srgbClr val="CC0000"/>
              </a:gs>
              <a:gs pos="100000">
                <a:srgbClr val="003366"/>
              </a:gs>
            </a:gsLst>
            <a:lin ang="10800000" scaled="1"/>
          </a:gradFill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dirty="0" smtClean="0"/>
              <a:t>BBST  in O(log n)</a:t>
            </a:r>
            <a:endParaRPr lang="en-IN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906963"/>
          </a:xfrm>
          <a:ln/>
        </p:spPr>
        <p:txBody>
          <a:bodyPr/>
          <a:lstStyle/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Update()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err="1" smtClean="0"/>
              <a:t>PreSum</a:t>
            </a:r>
            <a:r>
              <a:rPr lang="en-US" dirty="0" smtClean="0"/>
              <a:t>()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err="1" smtClean="0"/>
              <a:t>RangeSum</a:t>
            </a:r>
            <a:r>
              <a:rPr lang="en-US" dirty="0" smtClean="0"/>
              <a:t>()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err="1" smtClean="0"/>
              <a:t>RangeMinQuery</a:t>
            </a:r>
            <a:r>
              <a:rPr lang="en-US" dirty="0" smtClean="0"/>
              <a:t>()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err="1" smtClean="0"/>
              <a:t>RangeMaxQuery</a:t>
            </a:r>
            <a:r>
              <a:rPr lang="en-US" dirty="0" smtClean="0"/>
              <a:t>()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err="1" smtClean="0"/>
              <a:t>RangeMaxGap</a:t>
            </a:r>
            <a:r>
              <a:rPr lang="en-US" dirty="0" smtClean="0"/>
              <a:t>() –maximum difference among all the numbers in the given range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080375" cy="822325"/>
          </a:xfrm>
          <a:gradFill rotWithShape="0">
            <a:gsLst>
              <a:gs pos="0">
                <a:srgbClr val="CC0000"/>
              </a:gs>
              <a:gs pos="100000">
                <a:srgbClr val="003366"/>
              </a:gs>
            </a:gsLst>
            <a:lin ang="10800000" scaled="1"/>
          </a:gradFill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dirty="0" smtClean="0"/>
              <a:t>Dynamic Data Set </a:t>
            </a:r>
            <a:endParaRPr lang="en-IN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906963"/>
          </a:xfrm>
          <a:ln/>
        </p:spPr>
        <p:txBody>
          <a:bodyPr/>
          <a:lstStyle/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Add()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Delete()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Search()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err="1" smtClean="0"/>
              <a:t>Mingap</a:t>
            </a:r>
            <a:r>
              <a:rPr lang="en-US" dirty="0" smtClean="0"/>
              <a:t>() minimum difference among the numbers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err="1" smtClean="0"/>
              <a:t>Maxgap</a:t>
            </a:r>
            <a:r>
              <a:rPr lang="en-US" dirty="0" smtClean="0"/>
              <a:t>() maximum difference among the numbers – is the difference between max and min.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080375" cy="822325"/>
          </a:xfrm>
          <a:gradFill rotWithShape="0">
            <a:gsLst>
              <a:gs pos="0">
                <a:srgbClr val="CC0000"/>
              </a:gs>
              <a:gs pos="100000">
                <a:srgbClr val="003366"/>
              </a:gs>
            </a:gsLst>
            <a:lin ang="10800000" scaled="1"/>
          </a:gradFill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dirty="0" smtClean="0"/>
              <a:t>Dynamic Data Set </a:t>
            </a:r>
            <a:endParaRPr lang="en-IN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906963"/>
          </a:xfrm>
          <a:ln/>
        </p:spPr>
        <p:txBody>
          <a:bodyPr/>
          <a:lstStyle/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 2, 15, 32, 35, 55 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err="1" smtClean="0"/>
              <a:t>Mingap</a:t>
            </a:r>
            <a:r>
              <a:rPr lang="en-US" dirty="0" smtClean="0"/>
              <a:t>()=3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err="1" smtClean="0"/>
              <a:t>Maxgap</a:t>
            </a:r>
            <a:r>
              <a:rPr lang="en-US" dirty="0" smtClean="0"/>
              <a:t>()=53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dirty="0" smtClean="0"/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080375" cy="822325"/>
          </a:xfrm>
          <a:gradFill rotWithShape="0">
            <a:gsLst>
              <a:gs pos="0">
                <a:srgbClr val="CC0000"/>
              </a:gs>
              <a:gs pos="100000">
                <a:srgbClr val="003366"/>
              </a:gs>
            </a:gsLst>
            <a:lin ang="10800000" scaled="1"/>
          </a:gradFill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dirty="0" smtClean="0"/>
              <a:t>Dynamic Data Set </a:t>
            </a:r>
            <a:endParaRPr lang="en-IN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906963"/>
          </a:xfrm>
          <a:ln/>
        </p:spPr>
        <p:txBody>
          <a:bodyPr/>
          <a:lstStyle/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 2, 15, 32, 35, 55 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err="1" smtClean="0"/>
              <a:t>Mingap</a:t>
            </a:r>
            <a:r>
              <a:rPr lang="en-US" dirty="0" smtClean="0"/>
              <a:t>()=3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err="1" smtClean="0"/>
              <a:t>Maxgap</a:t>
            </a:r>
            <a:r>
              <a:rPr lang="en-US" dirty="0" smtClean="0"/>
              <a:t>()=53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Delete(32) and Add(60)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2, 15, 35, 55,60 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err="1" smtClean="0"/>
              <a:t>Mingap</a:t>
            </a:r>
            <a:r>
              <a:rPr lang="en-US" dirty="0" smtClean="0"/>
              <a:t>()=5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err="1" smtClean="0"/>
              <a:t>Maxgap</a:t>
            </a:r>
            <a:r>
              <a:rPr lang="en-US" dirty="0" smtClean="0"/>
              <a:t>()=58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dirty="0" smtClean="0"/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080375" cy="822325"/>
          </a:xfrm>
          <a:gradFill rotWithShape="0">
            <a:gsLst>
              <a:gs pos="0">
                <a:srgbClr val="CC0000"/>
              </a:gs>
              <a:gs pos="100000">
                <a:srgbClr val="003366"/>
              </a:gs>
            </a:gsLst>
            <a:lin ang="10800000" scaled="1"/>
          </a:gradFill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dirty="0" smtClean="0"/>
              <a:t>Range Query</a:t>
            </a:r>
            <a:endParaRPr lang="en-IN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906963"/>
          </a:xfrm>
          <a:ln/>
        </p:spPr>
        <p:txBody>
          <a:bodyPr/>
          <a:lstStyle/>
          <a:p>
            <a:pPr indent="-339725" algn="just">
              <a:buClrTx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endParaRPr lang="en-US" dirty="0" smtClean="0"/>
          </a:p>
          <a:p>
            <a:pPr indent="-339725" algn="just">
              <a:buClrTx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</a:pPr>
            <a:endParaRPr lang="en-US" dirty="0" smtClean="0"/>
          </a:p>
        </p:txBody>
      </p:sp>
      <p:sp>
        <p:nvSpPr>
          <p:cNvPr id="5" name="Oval 4"/>
          <p:cNvSpPr/>
          <p:nvPr/>
        </p:nvSpPr>
        <p:spPr bwMode="auto">
          <a:xfrm>
            <a:off x="3733800" y="2590800"/>
            <a:ext cx="914400" cy="9144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lang="en-US" sz="2400" dirty="0" smtClean="0">
                <a:solidFill>
                  <a:schemeClr val="bg1"/>
                </a:solidFill>
                <a:latin typeface="Arial" charset="0"/>
              </a:rPr>
              <a:t>35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4876800" y="3505200"/>
            <a:ext cx="914400" cy="7620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lang="en-US" sz="2400" dirty="0" smtClean="0">
                <a:solidFill>
                  <a:schemeClr val="bg1"/>
                </a:solidFill>
                <a:latin typeface="Arial" charset="0"/>
              </a:rPr>
              <a:t>55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715000" y="4724400"/>
            <a:ext cx="838200" cy="8382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lang="en-US" sz="2400" dirty="0" smtClean="0">
                <a:solidFill>
                  <a:schemeClr val="bg1"/>
                </a:solidFill>
                <a:latin typeface="Arial" charset="0"/>
              </a:rPr>
              <a:t>60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3352800" y="4876800"/>
            <a:ext cx="838200" cy="8382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15</a:t>
            </a:r>
          </a:p>
        </p:txBody>
      </p:sp>
      <p:sp>
        <p:nvSpPr>
          <p:cNvPr id="11" name="Oval 10"/>
          <p:cNvSpPr/>
          <p:nvPr/>
        </p:nvSpPr>
        <p:spPr bwMode="auto">
          <a:xfrm>
            <a:off x="2743200" y="3657600"/>
            <a:ext cx="838200" cy="9144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lang="en-US" sz="2400" dirty="0" smtClean="0">
                <a:solidFill>
                  <a:schemeClr val="bg1"/>
                </a:solidFill>
                <a:latin typeface="Arial" charset="0"/>
              </a:rPr>
              <a:t>2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4" name="Straight Connector 13"/>
          <p:cNvCxnSpPr>
            <a:stCxn id="5" idx="3"/>
            <a:endCxn id="11" idx="7"/>
          </p:cNvCxnSpPr>
          <p:nvPr/>
        </p:nvCxnSpPr>
        <p:spPr bwMode="auto">
          <a:xfrm rot="5400000">
            <a:off x="3453069" y="3376869"/>
            <a:ext cx="420222" cy="409063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 rot="16200000" flipH="1">
            <a:off x="3314700" y="4533900"/>
            <a:ext cx="381000" cy="30480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>
            <a:stCxn id="5" idx="5"/>
            <a:endCxn id="6" idx="1"/>
          </p:cNvCxnSpPr>
          <p:nvPr/>
        </p:nvCxnSpPr>
        <p:spPr bwMode="auto">
          <a:xfrm rot="16200000" flipH="1">
            <a:off x="4639749" y="3245829"/>
            <a:ext cx="245503" cy="496422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stCxn id="6" idx="5"/>
            <a:endCxn id="9" idx="1"/>
          </p:cNvCxnSpPr>
          <p:nvPr/>
        </p:nvCxnSpPr>
        <p:spPr bwMode="auto">
          <a:xfrm rot="16200000" flipH="1">
            <a:off x="5401749" y="4411147"/>
            <a:ext cx="691543" cy="180463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477000" y="502920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60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715000" y="358140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55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114800" y="533400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505200" y="38862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4648200" y="26670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57200" y="24384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min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3276600" y="281940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60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95800" y="373380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60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286000" y="381000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971800" y="502920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43600" y="556260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60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7200" y="28194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max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038600" y="34290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5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14600" y="434340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13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105400" y="42672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5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200400" y="5867400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MAX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324600" y="4495800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MAX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33400" y="3200400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00B0F0"/>
                </a:solidFill>
              </a:rPr>
              <a:t>mingap</a:t>
            </a:r>
            <a:endParaRPr lang="en-US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080375" cy="822325"/>
          </a:xfrm>
          <a:gradFill rotWithShape="0">
            <a:gsLst>
              <a:gs pos="0">
                <a:srgbClr val="CC0000"/>
              </a:gs>
              <a:gs pos="100000">
                <a:srgbClr val="003366"/>
              </a:gs>
            </a:gsLst>
            <a:lin ang="10800000" scaled="1"/>
          </a:gradFill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dirty="0" smtClean="0"/>
              <a:t>Max value at a node </a:t>
            </a:r>
            <a:endParaRPr lang="en-IN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906963"/>
          </a:xfrm>
          <a:ln/>
        </p:spPr>
        <p:txBody>
          <a:bodyPr/>
          <a:lstStyle/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 </a:t>
            </a:r>
          </a:p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										Node-&gt;value</a:t>
            </a:r>
          </a:p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dirty="0" smtClean="0"/>
          </a:p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Node-&gt;max=Max   Node-&gt;left-&gt;max</a:t>
            </a:r>
          </a:p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dirty="0" smtClean="0"/>
          </a:p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/>
              <a:t>	</a:t>
            </a:r>
            <a:r>
              <a:rPr lang="en-US" dirty="0" smtClean="0"/>
              <a:t>								   	Node-&gt;right-&gt;max</a:t>
            </a:r>
          </a:p>
        </p:txBody>
      </p:sp>
      <p:sp>
        <p:nvSpPr>
          <p:cNvPr id="4" name="Left Brace 3"/>
          <p:cNvSpPr/>
          <p:nvPr/>
        </p:nvSpPr>
        <p:spPr bwMode="auto">
          <a:xfrm>
            <a:off x="4038600" y="1447800"/>
            <a:ext cx="533400" cy="3810000"/>
          </a:xfrm>
          <a:prstGeom prst="leftBrac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080375" cy="822325"/>
          </a:xfrm>
          <a:gradFill rotWithShape="0">
            <a:gsLst>
              <a:gs pos="0">
                <a:srgbClr val="CC0000"/>
              </a:gs>
              <a:gs pos="100000">
                <a:srgbClr val="003366"/>
              </a:gs>
            </a:gsLst>
            <a:lin ang="10800000" scaled="1"/>
          </a:gradFill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dirty="0" smtClean="0"/>
              <a:t>Max value at a node </a:t>
            </a:r>
            <a:endParaRPr lang="en-IN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906963"/>
          </a:xfrm>
          <a:ln/>
        </p:spPr>
        <p:txBody>
          <a:bodyPr/>
          <a:lstStyle/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 </a:t>
            </a:r>
          </a:p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										Node-&gt;value</a:t>
            </a:r>
          </a:p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dirty="0" smtClean="0"/>
          </a:p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Node-&gt;min=Min	   Node-&gt;left-&gt;min</a:t>
            </a:r>
          </a:p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dirty="0" smtClean="0"/>
          </a:p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/>
              <a:t>	</a:t>
            </a:r>
            <a:r>
              <a:rPr lang="en-US" dirty="0" smtClean="0"/>
              <a:t>									Node-&gt;right-&gt;min</a:t>
            </a:r>
          </a:p>
        </p:txBody>
      </p:sp>
      <p:sp>
        <p:nvSpPr>
          <p:cNvPr id="4" name="Left Brace 3"/>
          <p:cNvSpPr/>
          <p:nvPr/>
        </p:nvSpPr>
        <p:spPr bwMode="auto">
          <a:xfrm>
            <a:off x="3886200" y="1371600"/>
            <a:ext cx="533400" cy="3810000"/>
          </a:xfrm>
          <a:prstGeom prst="leftBrac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080375" cy="822325"/>
          </a:xfrm>
          <a:gradFill rotWithShape="0">
            <a:gsLst>
              <a:gs pos="0">
                <a:srgbClr val="CC0000"/>
              </a:gs>
              <a:gs pos="100000">
                <a:srgbClr val="003366"/>
              </a:gs>
            </a:gsLst>
            <a:lin ang="10800000" scaled="1"/>
          </a:gradFill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dirty="0" smtClean="0"/>
              <a:t>Max value at a node </a:t>
            </a:r>
            <a:endParaRPr lang="en-IN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906963"/>
          </a:xfrm>
          <a:ln/>
        </p:spPr>
        <p:txBody>
          <a:bodyPr/>
          <a:lstStyle/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 							</a:t>
            </a:r>
          </a:p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400" dirty="0" smtClean="0"/>
              <a:t>							node-&gt;value-node-&gt;left-&gt;max</a:t>
            </a:r>
          </a:p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2400" dirty="0" smtClean="0"/>
          </a:p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400" dirty="0" smtClean="0"/>
              <a:t>							node-&gt;right-&gt;min-node-&gt;value</a:t>
            </a:r>
          </a:p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400" dirty="0" smtClean="0"/>
              <a:t>node-&gt;</a:t>
            </a:r>
          </a:p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400" dirty="0" err="1" smtClean="0"/>
              <a:t>mingap</a:t>
            </a:r>
            <a:r>
              <a:rPr lang="en-US" sz="2400" dirty="0" smtClean="0"/>
              <a:t>=Min     	node-&gt;left-&gt;</a:t>
            </a:r>
            <a:r>
              <a:rPr lang="en-US" sz="2400" dirty="0" err="1" smtClean="0"/>
              <a:t>mingap</a:t>
            </a:r>
            <a:endParaRPr lang="en-US" sz="2400" dirty="0" smtClean="0"/>
          </a:p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dirty="0" smtClean="0"/>
          </a:p>
          <a:p>
            <a:pPr indent="-339725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/>
              <a:t>	</a:t>
            </a:r>
            <a:r>
              <a:rPr lang="en-US" dirty="0" smtClean="0"/>
              <a:t>						</a:t>
            </a:r>
            <a:r>
              <a:rPr lang="en-US" sz="2400" dirty="0" smtClean="0"/>
              <a:t>node-&gt;right-&gt;</a:t>
            </a:r>
            <a:r>
              <a:rPr lang="en-US" sz="2400" dirty="0" err="1" smtClean="0"/>
              <a:t>mingap</a:t>
            </a:r>
            <a:endParaRPr lang="en-US" sz="2400" dirty="0" smtClean="0"/>
          </a:p>
        </p:txBody>
      </p:sp>
      <p:sp>
        <p:nvSpPr>
          <p:cNvPr id="4" name="Left Brace 3"/>
          <p:cNvSpPr/>
          <p:nvPr/>
        </p:nvSpPr>
        <p:spPr bwMode="auto">
          <a:xfrm>
            <a:off x="2667000" y="1600200"/>
            <a:ext cx="457200" cy="3810000"/>
          </a:xfrm>
          <a:prstGeom prst="leftBrac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447800"/>
            <a:ext cx="8080375" cy="822325"/>
          </a:xfrm>
          <a:gradFill rotWithShape="0">
            <a:gsLst>
              <a:gs pos="0">
                <a:srgbClr val="CC0000"/>
              </a:gs>
              <a:gs pos="100000">
                <a:srgbClr val="003366"/>
              </a:gs>
            </a:gsLst>
            <a:lin ang="10800000" scaled="1"/>
          </a:gradFill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dirty="0" smtClean="0"/>
              <a:t>BBST  in O(log n)</a:t>
            </a:r>
            <a:endParaRPr lang="en-IN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-228600"/>
            <a:ext cx="8229600" cy="4906963"/>
          </a:xfrm>
          <a:ln/>
        </p:spPr>
        <p:txBody>
          <a:bodyPr/>
          <a:lstStyle/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Add()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Delete()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smtClean="0"/>
              <a:t>Search()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err="1" smtClean="0"/>
              <a:t>RangeMaxGap</a:t>
            </a:r>
            <a:r>
              <a:rPr lang="en-US" dirty="0" smtClean="0"/>
              <a:t>()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err="1" smtClean="0"/>
              <a:t>RangeMinGap</a:t>
            </a:r>
            <a:r>
              <a:rPr lang="en-US" dirty="0" smtClean="0"/>
              <a:t>()</a:t>
            </a:r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dirty="0" smtClean="0"/>
          </a:p>
          <a:p>
            <a:pPr indent="-339725">
              <a:buClrTx/>
              <a:buFont typeface="Arial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dirty="0" err="1" smtClean="0"/>
              <a:t>Maxgap</a:t>
            </a:r>
            <a:r>
              <a:rPr lang="en-US" dirty="0" smtClean="0"/>
              <a:t> and </a:t>
            </a:r>
            <a:r>
              <a:rPr lang="en-US" dirty="0" err="1" smtClean="0"/>
              <a:t>Mingap</a:t>
            </a:r>
            <a:r>
              <a:rPr lang="en-US" dirty="0" smtClean="0"/>
              <a:t> in the whole set can be found on O(1)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Verdana"/>
        <a:ea typeface="DejaVu Sans"/>
        <a:cs typeface="DejaVu Sans"/>
      </a:majorFont>
      <a:minorFont>
        <a:latin typeface="Verdana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454</Words>
  <Application>Microsoft Office PowerPoint</Application>
  <PresentationFormat>On-screen Show (4:3)</PresentationFormat>
  <Paragraphs>209</Paragraphs>
  <Slides>19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Office Theme</vt:lpstr>
      <vt:lpstr>1_Office Theme</vt:lpstr>
      <vt:lpstr>BBST  Trees Applications of AVL trees </vt:lpstr>
      <vt:lpstr>Rank (X)</vt:lpstr>
      <vt:lpstr>Node count</vt:lpstr>
      <vt:lpstr>Find Rank (rank)</vt:lpstr>
      <vt:lpstr>Node count</vt:lpstr>
      <vt:lpstr>Other operations</vt:lpstr>
      <vt:lpstr>Other operations</vt:lpstr>
      <vt:lpstr>Range Query</vt:lpstr>
      <vt:lpstr>Range Query</vt:lpstr>
      <vt:lpstr>BBST Structure  </vt:lpstr>
      <vt:lpstr>BBST  in O(log n)</vt:lpstr>
      <vt:lpstr>Dynamic Data Set </vt:lpstr>
      <vt:lpstr>Dynamic Data Set </vt:lpstr>
      <vt:lpstr>Dynamic Data Set </vt:lpstr>
      <vt:lpstr>Range Query</vt:lpstr>
      <vt:lpstr>Max value at a node </vt:lpstr>
      <vt:lpstr>Max value at a node </vt:lpstr>
      <vt:lpstr>Max value at a node </vt:lpstr>
      <vt:lpstr>BBST  in O(log n)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Search Trees</dc:title>
  <dc:creator>Prof.Murali</dc:creator>
  <cp:lastModifiedBy>Prof.Murali</cp:lastModifiedBy>
  <cp:revision>20</cp:revision>
  <dcterms:created xsi:type="dcterms:W3CDTF">2020-04-03T03:53:21Z</dcterms:created>
  <dcterms:modified xsi:type="dcterms:W3CDTF">2024-03-27T03:55:06Z</dcterms:modified>
</cp:coreProperties>
</file>